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2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67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7">
          <p15:clr>
            <a:srgbClr val="747775"/>
          </p15:clr>
        </p15:guide>
        <p15:guide id="2" orient="horz" pos="166">
          <p15:clr>
            <a:srgbClr val="747775"/>
          </p15:clr>
        </p15:guide>
        <p15:guide id="3" orient="horz">
          <p15:clr>
            <a:srgbClr val="747775"/>
          </p15:clr>
        </p15:guide>
        <p15:guide id="4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hSonSXhwAQ1UnVFcFes3BVifW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835D47-95D8-479B-85BA-988B438AB2C6}">
  <a:tblStyle styleId="{E4835D47-95D8-479B-85BA-988B438AB2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31132-B332-4060-B0A1-36B713314E2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94" y="67"/>
      </p:cViewPr>
      <p:guideLst>
        <p:guide orient="horz" pos="47"/>
        <p:guide orient="horz" pos="166"/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114" name="Google Shape;1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129" name="Google Shape;1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140" name="Google Shape;14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cd12a578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fcd12a578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2fcd12a5785_0_3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151" name="Google Shape;151;g2fcd12a5785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1efae1c2f_5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f1efae1c2f_5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2f1efae1c2f_5_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162" name="Google Shape;162;g2f1efae1c2f_5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b047216f0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2b047216f0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Spiking Neural Networks (SNN) 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in-depth interview</a:t>
            </a:r>
            <a:endParaRPr/>
          </a:p>
        </p:txBody>
      </p:sp>
      <p:sp>
        <p:nvSpPr>
          <p:cNvPr id="172" name="Google Shape;172;g32b047216f0_1_1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173" name="Google Shape;173;g32b047216f0_1_12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174" name="Google Shape;174;g32b047216f0_1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b047216f0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2b047216f0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Spiking Neural Networks (SNN) 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in-depth interview</a:t>
            </a:r>
            <a:endParaRPr/>
          </a:p>
        </p:txBody>
      </p:sp>
      <p:sp>
        <p:nvSpPr>
          <p:cNvPr id="184" name="Google Shape;184;g32b047216f0_1_13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185" name="Google Shape;185;g32b047216f0_1_13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186" name="Google Shape;186;g32b047216f0_1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b047216f0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2b047216f0_1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Spiking Neural Networks (SNN) 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in-depth interview</a:t>
            </a:r>
            <a:endParaRPr/>
          </a:p>
        </p:txBody>
      </p:sp>
      <p:sp>
        <p:nvSpPr>
          <p:cNvPr id="196" name="Google Shape;196;g32b047216f0_1_14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197" name="Google Shape;197;g32b047216f0_1_147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198" name="Google Shape;198;g32b047216f0_1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b047216f0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2b047216f0_1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SMIS 2.0 (Spill Management Information System 2.0)</a:t>
            </a:r>
            <a:r>
              <a:rPr lang="en-US"/>
              <a:t>: A 3D hydrodynamic and chemical spill modeling system.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GLLVHT Model</a:t>
            </a:r>
            <a:r>
              <a:rPr lang="en-US"/>
              <a:t>: Provides hydrodynamic information for contaminant transport.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COSIM Model</a:t>
            </a:r>
            <a:r>
              <a:rPr lang="en-US"/>
              <a:t>: Simulates chemical/oil spill impact.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GIS (Geographic Information Systems)</a:t>
            </a:r>
            <a:r>
              <a:rPr lang="en-US"/>
              <a:t>: Used for visualizing spill results and spatial queries.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ArcMap</a:t>
            </a:r>
            <a:r>
              <a:rPr lang="en-US"/>
              <a:t>: A tool within ESRI’s ArcGIS suite for managing and displaying spill data.</a:t>
            </a:r>
            <a:endParaRPr/>
          </a:p>
        </p:txBody>
      </p:sp>
      <p:sp>
        <p:nvSpPr>
          <p:cNvPr id="208" name="Google Shape;208;g32b047216f0_1_15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209" name="Google Shape;209;g32b047216f0_1_158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210" name="Google Shape;210;g32b047216f0_1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b047216f0_1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b047216f0_1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Spiking Neural Networks (SNN) 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in-depth interview</a:t>
            </a:r>
            <a:endParaRPr/>
          </a:p>
        </p:txBody>
      </p:sp>
      <p:sp>
        <p:nvSpPr>
          <p:cNvPr id="220" name="Google Shape;220;g32b047216f0_1_16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221" name="Google Shape;221;g32b047216f0_1_16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222" name="Google Shape;222;g32b047216f0_1_1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b047216f0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2b047216f0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Limited Regional Focus: Existing systems are often generalized and not tailored to specific regions, leading to less accurate predictions.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Lack of Real-Time Data Integration: Many systems rely on periodic updates, which delay responses to changing conditions.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Reactive Spill Management: Systems mostly offer pre-configured or manual responses, making them less efficient in real-time crisis management.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Inadequate Stakeholder Communication: Existing systems may not provide clear, actionable insights for all relevant stakeholders.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Simplified Models: Many systems use basic models, failing to capture the complexity of water flow dynamics and spill risks.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Inefficient Water Resource Management: Limited focus on optimizing water flow between dams and overall resource allocation.</a:t>
            </a:r>
            <a:endParaRPr/>
          </a:p>
        </p:txBody>
      </p:sp>
      <p:sp>
        <p:nvSpPr>
          <p:cNvPr id="232" name="Google Shape;232;g32b047216f0_1_32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233" name="Google Shape;233;g32b047216f0_1_327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234" name="Google Shape;234;g32b047216f0_1_3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06B5EB62-605E-7AF3-CF3F-ECF53E55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b047216f0_1_327:notes">
            <a:extLst>
              <a:ext uri="{FF2B5EF4-FFF2-40B4-BE49-F238E27FC236}">
                <a16:creationId xmlns:a16="http://schemas.microsoft.com/office/drawing/2014/main" id="{DC091A81-0E2E-E1D2-E386-9F2826488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2b047216f0_1_327:notes">
            <a:extLst>
              <a:ext uri="{FF2B5EF4-FFF2-40B4-BE49-F238E27FC236}">
                <a16:creationId xmlns:a16="http://schemas.microsoft.com/office/drawing/2014/main" id="{3D1D4AC9-CA87-21F3-CAF9-5BB2CB986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Limited Regional Focus: Existing systems are often generalized and not tailored to specific regions, leading to less accurate predictions.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Lack of Real-Time Data Integration: Many systems rely on periodic updates, which delay responses to changing conditions.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Reactive Spill Management: Systems mostly offer pre-configured or manual responses, making them less efficient in real-time crisis management.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Inadequate Stakeholder Communication: Existing systems may not provide clear, actionable insights for all relevant stakeholders.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Simplified Models: Many systems use basic models, failing to capture the complexity of water flow dynamics and spill risks.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Inefficient Water Resource Management: Limited focus on optimizing water flow between dams and overall resource allocation.</a:t>
            </a:r>
            <a:endParaRPr/>
          </a:p>
        </p:txBody>
      </p:sp>
      <p:sp>
        <p:nvSpPr>
          <p:cNvPr id="232" name="Google Shape;232;g32b047216f0_1_327:notes">
            <a:extLst>
              <a:ext uri="{FF2B5EF4-FFF2-40B4-BE49-F238E27FC236}">
                <a16:creationId xmlns:a16="http://schemas.microsoft.com/office/drawing/2014/main" id="{5838E28A-0C0C-68A5-B2E3-26248BCF35F2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233" name="Google Shape;233;g32b047216f0_1_327:notes">
            <a:extLst>
              <a:ext uri="{FF2B5EF4-FFF2-40B4-BE49-F238E27FC236}">
                <a16:creationId xmlns:a16="http://schemas.microsoft.com/office/drawing/2014/main" id="{57DA8F96-3974-ABD3-16E3-A2FFCE4861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234" name="Google Shape;234;g32b047216f0_1_327:notes">
            <a:extLst>
              <a:ext uri="{FF2B5EF4-FFF2-40B4-BE49-F238E27FC236}">
                <a16:creationId xmlns:a16="http://schemas.microsoft.com/office/drawing/2014/main" id="{DA98A307-F6D0-913B-73E7-97C8BC11A9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7875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ad29a175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2fad29a175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g2fad29a1750_2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257" name="Google Shape;257;g2fad29a1750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ad29a1750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2fad29a1750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2fad29a1750_2_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268" name="Google Shape;268;g2fad29a1750_2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2196b055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12196b055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312196b0555_0_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280" name="Google Shape;280;g312196b0555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d94ff48b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2fd94ff48b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g2fd94ff48b5_2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292" name="Google Shape;292;g2fd94ff48b5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cd12a578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fcd12a578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g2fcd12a5785_0_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03" name="Google Shape;303;g2fcd12a5785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b047216f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2b047216f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32b047216f0_0_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14" name="Google Shape;314;g32b047216f0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b047216f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2b047216f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g32b047216f0_0_2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25" name="Google Shape;325;g32b047216f0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b047216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2b047216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g32b047216f0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47" name="Google Shape;347;g32b047216f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fcd12a578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2fcd12a578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g2fcd12a5785_0_2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58" name="Google Shape;358;g2fcd12a5785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2b0882ff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2b0882ff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2b0882ff72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69" name="Google Shape;369;g32b0882ff7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2b0882ff7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2b0882ff7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g32b0882ff72_0_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80" name="Google Shape;380;g32b0882ff72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12283a6a2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12283a6a2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g312283a6a2a_1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391" name="Google Shape;391;g312283a6a2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12283a6a2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312283a6a2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312283a6a2a_1_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02" name="Google Shape;402;g312283a6a2a_1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2283a6a2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312283a6a2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2" name="Google Shape;412;g312283a6a2a_1_2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13" name="Google Shape;413;g312283a6a2a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2283a6a2a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312283a6a2a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g312283a6a2a_1_3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24" name="Google Shape;424;g312283a6a2a_1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b0c8901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2b0c8901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Limited Regional Focus: Existing systems are often generalized and not tailored to specific regions, leading to less accurate predictions.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Lack of Real-Time Data Integration: Many systems rely on periodic updates, which delay responses to changing conditions.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Reactive Spill Management: Systems mostly offer pre-configured or manual responses, making them less efficient in real-time crisis management.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Inadequate Stakeholder Communication: Existing systems may not provide clear, actionable insights for all relevant stakeholders.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Simplified Models: Many systems use basic models, failing to capture the complexity of water flow dynamics and spill risks.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Inefficient Water Resource Management: Limited focus on optimizing water flow between dams and overall resource allocation.</a:t>
            </a:r>
            <a:endParaRPr/>
          </a:p>
        </p:txBody>
      </p:sp>
      <p:sp>
        <p:nvSpPr>
          <p:cNvPr id="244" name="Google Shape;244;g32b0c8901ff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/Seminar Code </a:t>
            </a:r>
            <a:endParaRPr/>
          </a:p>
        </p:txBody>
      </p:sp>
      <p:sp>
        <p:nvSpPr>
          <p:cNvPr id="245" name="Google Shape;245;g32b0c8901ff_0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Name</a:t>
            </a:r>
            <a:endParaRPr/>
          </a:p>
        </p:txBody>
      </p:sp>
      <p:sp>
        <p:nvSpPr>
          <p:cNvPr id="246" name="Google Shape;246;g32b0c8901f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f2118ffd5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2f2118ffd5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SQuAD (Stanford Question Answering Dataset) is a widely used dataset in natural language processing for training and evaluating question-answering systems.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use SQuAD with T5 for extracting questions and answers from a PDF, start by extracting and preprocessing the text from the PDF.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Fine-tune T5 on the SQuAD dataset, which contains question-answer pairs and contexts, to train the model in generating relevant questions.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After fine-tuning, input the cleaned PDF text into the model to generate questions and extract answers based on the context provided.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sz="700"/>
          </a:p>
        </p:txBody>
      </p:sp>
      <p:sp>
        <p:nvSpPr>
          <p:cNvPr id="434" name="Google Shape;434;g2f2118ffd5a_0_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35" name="Google Shape;435;g2f2118ffd5a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12196b0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g312196b0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SQuAD (Stanford Question Answering Dataset) is a widely used dataset in natural language processing for training and evaluating question-answering systems.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use SQuAD with T5 for extracting questions and answers from a PDF, start by extracting and preprocessing the text from the PDF.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Fine-tune T5 on the SQuAD dataset, which contains question-answer pairs and contexts, to train the model in generating relevant questions.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After fine-tuning, input the cleaned PDF text into the model to generate questions and extract answers based on the context provided.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sz="700"/>
          </a:p>
        </p:txBody>
      </p:sp>
      <p:sp>
        <p:nvSpPr>
          <p:cNvPr id="445" name="Google Shape;445;g312196b0555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46" name="Google Shape;446;g312196b055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fd94ff48b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g2fd94ff48b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SQuAD (Stanford Question Answering Dataset) is a widely used dataset in natural language processing for training and evaluating question-answering systems.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use SQuAD with T5 for extracting questions and answers from a PDF, start by extracting and preprocessing the text from the PDF.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Fine-tune T5 on the SQuAD dataset, which contains question-answer pairs and contexts, to train the model in generating relevant questions.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After fine-tuning, input the cleaned PDF text into the model to generate questions and extract answers based on the context provided.</a:t>
            </a:r>
            <a:endParaRPr sz="13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sz="700"/>
          </a:p>
        </p:txBody>
      </p:sp>
      <p:sp>
        <p:nvSpPr>
          <p:cNvPr id="456" name="Google Shape;456;g2fd94ff48b5_0_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57" name="Google Shape;457;g2fd94ff48b5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f1efae1c2f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2f1efae1c2f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g2f1efae1c2f_5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69" name="Google Shape;469;g2f1efae1c2f_5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b0c8901ff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32b0c8901ff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" name="Google Shape;481;g32b0c8901ff_1_1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82" name="Google Shape;482;g32b0c8901ff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2b0c8901ff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2b0c8901ff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4" name="Google Shape;494;g32b0c8901ff_1_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495" name="Google Shape;495;g32b0c8901ff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2b0c8901ff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g32b0c8901ff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7" name="Google Shape;507;g32b0c8901ff_1_3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08" name="Google Shape;508;g32b0c8901ff_1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2b0c8901ff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g32b0c8901ff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0" name="Google Shape;520;g32b0c8901ff_1_6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21" name="Google Shape;521;g32b0c8901ff_1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2b0c8901ff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g32b0c8901ff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g32b0c8901ff_1_5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34" name="Google Shape;534;g32b0c8901ff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2b0c8901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g32b0c8901f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g32b0c8901ff_1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47" name="Google Shape;547;g32b0c8901f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f1efae1c2f_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g2f1efae1c2f_5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g2f1efae1c2f_5_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58" name="Google Shape;558;g2f1efae1c2f_5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fc15d2862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g2fc15d2862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8" name="Google Shape;568;g2fc15d28620_0_3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69" name="Google Shape;569;g2fc15d28620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e0d6f8b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2f8e0d6f8b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9" name="Google Shape;579;g2f8e0d6f8ba_2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80" name="Google Shape;580;g2f8e0d6f8ba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f8e0d6f8ba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g2f8e0d6f8ba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0" name="Google Shape;590;g2f8e0d6f8ba_2_1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591" name="Google Shape;591;g2f8e0d6f8ba_2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03295068b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0" name="Google Shape;600;g303295068b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1" name="Google Shape;601;g303295068b4_0_4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602" name="Google Shape;602;g303295068b4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f8e0d6f8b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g2f8e0d6f8b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2" name="Google Shape;612;g2f8e0d6f8ba_1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613" name="Google Shape;613;g2f8e0d6f8b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f8e0d6f8b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g2f8e0d6f8b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3" name="Google Shape;623;g2f8e0d6f8ba_1_1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624" name="Google Shape;624;g2f8e0d6f8ba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3" name="Google Shape;6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Knotbook an Online Learning Platform                                             </a:t>
            </a:r>
            <a:endParaRPr/>
          </a:p>
        </p:txBody>
      </p:sp>
      <p:sp>
        <p:nvSpPr>
          <p:cNvPr id="635" name="Google Shape;6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">
  <p:cSld name="Custom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8"/>
          <p:cNvSpPr txBox="1"/>
          <p:nvPr/>
        </p:nvSpPr>
        <p:spPr>
          <a:xfrm>
            <a:off x="77800" y="28100"/>
            <a:ext cx="52947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8"/>
          <p:cNvSpPr txBox="1"/>
          <p:nvPr/>
        </p:nvSpPr>
        <p:spPr>
          <a:xfrm>
            <a:off x="45375" y="28100"/>
            <a:ext cx="38577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8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 txBox="1"/>
          <p:nvPr/>
        </p:nvSpPr>
        <p:spPr>
          <a:xfrm>
            <a:off x="-500603" y="-1991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 An Online Learning Platform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304800" y="15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0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0"/>
          <p:cNvSpPr txBox="1"/>
          <p:nvPr/>
        </p:nvSpPr>
        <p:spPr>
          <a:xfrm>
            <a:off x="-409675" y="28100"/>
            <a:ext cx="362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notbook An Online Learning Platform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slides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228600" y="478155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1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2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854287" y="2810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0" y="28100"/>
            <a:ext cx="3623481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 AN ONLINE LEARNING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 amt="8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20 February 2025</a:t>
            </a:r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7"/>
          <p:cNvSpPr txBox="1"/>
          <p:nvPr/>
        </p:nvSpPr>
        <p:spPr>
          <a:xfrm>
            <a:off x="120575" y="4378300"/>
            <a:ext cx="25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17" name="Google Shape;117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18" name="Google Shape;118;p1"/>
          <p:cNvSpPr txBox="1">
            <a:spLocks noGrp="1"/>
          </p:cNvSpPr>
          <p:nvPr>
            <p:ph type="body" idx="4294967295"/>
          </p:nvPr>
        </p:nvSpPr>
        <p:spPr>
          <a:xfrm>
            <a:off x="392112" y="3245750"/>
            <a:ext cx="852860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u="sng" dirty="0">
                <a:latin typeface="Times New Roman"/>
                <a:ea typeface="Times New Roman"/>
                <a:cs typeface="Times New Roman"/>
                <a:sym typeface="Times New Roman"/>
              </a:rPr>
              <a:t>Guided by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                                                                                        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</a:t>
            </a:r>
            <a:r>
              <a:rPr lang="en-US" sz="12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sz="1200" b="0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MINNU ELIZABETH ITTAN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Group No: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     				                    GOKUL G NAIR (MBI21CS035)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SE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Department                   			                                            SHEENA S SAIJU (MBI21CS055)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on: 20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February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  SOLAMAN AJI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(MBI21CS056)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			     	                   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SUSAN PAUL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(MBI21CS057)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				                                                          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" descr="C:\Users\Admin\Desktop\ECL 201\MBITS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77" y="209550"/>
            <a:ext cx="846441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 txBox="1"/>
          <p:nvPr/>
        </p:nvSpPr>
        <p:spPr>
          <a:xfrm>
            <a:off x="998850" y="209550"/>
            <a:ext cx="6993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 BASELIOS INSTITUTE OF TECHNOLOGY AND SCIENCE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NELLIMATTOM, KOTHAMANGALAM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5866" y="-857250"/>
            <a:ext cx="264349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"/>
          <p:cNvSpPr txBox="1"/>
          <p:nvPr/>
        </p:nvSpPr>
        <p:spPr>
          <a:xfrm>
            <a:off x="1116150" y="1155372"/>
            <a:ext cx="6461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AND ENGINEERING 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908550" y="2227535"/>
            <a:ext cx="687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ONLINE LEARNING PLATFORM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20 February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>
            <a:spLocks noGrp="1"/>
          </p:cNvSpPr>
          <p:nvPr>
            <p:ph type="body" idx="4294967295"/>
          </p:nvPr>
        </p:nvSpPr>
        <p:spPr>
          <a:xfrm>
            <a:off x="1339600" y="138950"/>
            <a:ext cx="61722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2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2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Architecture Design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Module Details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dirty="0"/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"/>
          <p:cNvSpPr txBox="1">
            <a:spLocks noGrp="1"/>
          </p:cNvSpPr>
          <p:nvPr>
            <p:ph type="body" idx="4294967295"/>
          </p:nvPr>
        </p:nvSpPr>
        <p:spPr>
          <a:xfrm>
            <a:off x="1800750" y="187875"/>
            <a:ext cx="55425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lang="en-US" sz="4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5" name="Google Shape;135;p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>
            <a:spLocks noGrp="1"/>
          </p:cNvSpPr>
          <p:nvPr>
            <p:ph type="body" idx="4294967295"/>
          </p:nvPr>
        </p:nvSpPr>
        <p:spPr>
          <a:xfrm>
            <a:off x="1800750" y="379775"/>
            <a:ext cx="5542500" cy="6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</p:txBody>
      </p:sp>
      <p:sp>
        <p:nvSpPr>
          <p:cNvPr id="143" name="Google Shape;143;p3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44" name="Google Shape;144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26831" y="888468"/>
            <a:ext cx="7690338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Knotbook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online platform that facilitates easy sharing of educational notes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creates various practice questions (multiple-choice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short-answer) from uploaded notes using NLP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generates a comprehensive collection of assessments without  manual input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validation and Progress Reporting is also carried out by the system.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an interactive learning experience that boosts student involvement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cd12a5785_0_36"/>
          <p:cNvSpPr txBox="1">
            <a:spLocks noGrp="1"/>
          </p:cNvSpPr>
          <p:nvPr>
            <p:ph type="title"/>
          </p:nvPr>
        </p:nvSpPr>
        <p:spPr>
          <a:xfrm>
            <a:off x="0" y="3236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        Introduction</a:t>
            </a:r>
          </a:p>
        </p:txBody>
      </p:sp>
      <p:sp>
        <p:nvSpPr>
          <p:cNvPr id="154" name="Google Shape;154;g2fcd12a5785_0_36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55" name="Google Shape;155;g2fcd12a5785_0_3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56" name="Google Shape;156;g2fcd12a5785_0_36"/>
          <p:cNvSpPr txBox="1"/>
          <p:nvPr/>
        </p:nvSpPr>
        <p:spPr>
          <a:xfrm>
            <a:off x="457200" y="945941"/>
            <a:ext cx="8139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learning has evolved rapidly due to advancements in Internet and communication technology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Despite benefits, challenges like low engagement and high dropout rates remain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Virtual Learning Environment is needed to enhance educational experience and improve student engagement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VLE automates, assessment and monitoring by generating diverse questions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system has  potential to transform education by improving student outcomes, increasing retention rates and enabling more personalized learning experiences 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2fcd12a5785_0_36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1efae1c2f_5_2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165" name="Google Shape;165;g2f1efae1c2f_5_23"/>
          <p:cNvSpPr txBox="1"/>
          <p:nvPr/>
        </p:nvSpPr>
        <p:spPr>
          <a:xfrm>
            <a:off x="462600" y="1063375"/>
            <a:ext cx="80664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platform for faculty to upload, organize and share lecture notes with students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 students to take online exams with system-generated questions from uploaded notes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allow students to use text-voice conversion facility during exams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assessments taken by learners and generate progress report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2f1efae1c2f_5_23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67" name="Google Shape;167;g2f1efae1c2f_5_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68" name="Google Shape;168;g2f1efae1c2f_5_23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b047216f0_1_125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77" name="Google Shape;177;g32b047216f0_1_1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178" name="Google Shape;178;g32b047216f0_1_125"/>
          <p:cNvGraphicFramePr/>
          <p:nvPr>
            <p:extLst>
              <p:ext uri="{D42A27DB-BD31-4B8C-83A1-F6EECF244321}">
                <p14:modId xmlns:p14="http://schemas.microsoft.com/office/powerpoint/2010/main" val="2448832269"/>
              </p:ext>
            </p:extLst>
          </p:nvPr>
        </p:nvGraphicFramePr>
        <p:xfrm>
          <a:off x="152400" y="827970"/>
          <a:ext cx="8724692" cy="3690802"/>
        </p:xfrm>
        <a:graphic>
          <a:graphicData uri="http://schemas.openxmlformats.org/drawingml/2006/table">
            <a:tbl>
              <a:tblPr firstRow="1" bandRow="1">
                <a:noFill/>
                <a:tableStyleId>{E4835D47-95D8-479B-85BA-988B438AB2C6}</a:tableStyleId>
              </a:tblPr>
              <a:tblGrid>
                <a:gridCol w="67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8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Sln</a:t>
                      </a:r>
                      <a:r>
                        <a:rPr lang="en-US" sz="1600"/>
                        <a:t>o</a:t>
                      </a:r>
                      <a:r>
                        <a:rPr lang="en-US" sz="1600" u="none" strike="noStrike" cap="none"/>
                        <a:t>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Technology Used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Disadvantages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750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1.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MCQGen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A Large Language Model-Driven MCQ Generator for Personalized Learning [1]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Language Model Integration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Retrieval-Augmented Generation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Feedback Mechanism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Guided question generation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Struggles with     complex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mathematics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diversity and complexit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5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2.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UniRaG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Multimodal Question Answering With Pre-Trained Language Models[2]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LLaVA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Image-to-Text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Pre-trained Language Model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High-quality answer generation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Detailed image descriptions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279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of overload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279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Possibility of conversion errors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9" name="Google Shape;179;g32b047216f0_1_125"/>
          <p:cNvSpPr txBox="1">
            <a:spLocks noGrp="1"/>
          </p:cNvSpPr>
          <p:nvPr>
            <p:ph type="title"/>
          </p:nvPr>
        </p:nvSpPr>
        <p:spPr>
          <a:xfrm>
            <a:off x="503191" y="173370"/>
            <a:ext cx="81837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180" name="Google Shape;180;g32b047216f0_1_125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b047216f0_1_136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189" name="Google Shape;189;g32b047216f0_1_13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90" name="Google Shape;190;g32b047216f0_1_136"/>
          <p:cNvGraphicFramePr/>
          <p:nvPr>
            <p:extLst>
              <p:ext uri="{D42A27DB-BD31-4B8C-83A1-F6EECF244321}">
                <p14:modId xmlns:p14="http://schemas.microsoft.com/office/powerpoint/2010/main" val="330749401"/>
              </p:ext>
            </p:extLst>
          </p:nvPr>
        </p:nvGraphicFramePr>
        <p:xfrm>
          <a:off x="162770" y="827829"/>
          <a:ext cx="8818425" cy="3480904"/>
        </p:xfrm>
        <a:graphic>
          <a:graphicData uri="http://schemas.openxmlformats.org/drawingml/2006/table">
            <a:tbl>
              <a:tblPr firstRow="1" bandRow="1">
                <a:noFill/>
                <a:tableStyleId>{E4835D47-95D8-479B-85BA-988B438AB2C6}</a:tableStyleId>
              </a:tblPr>
              <a:tblGrid>
                <a:gridCol w="61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079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Slno.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Technology Used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Disadvantages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74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3.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Opinerium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Subjective Question Generation Using Large Language Models [3]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Flan-T5 trained on local computers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GPT-3 trained on OpenAI’s servers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Emphasizes personal insights in generation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Fine-tuning improve working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Challenging quality assessment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Significant computing costs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41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4.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Leveraging Structured Information from a Passage to Generate Questions [4]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RACE4QG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Encoder: GRU with GAT embeddings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Decoder: Attention and Pointer Networks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34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Utilizes multiple input sources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34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template-based and neural techniques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Difficult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 unstructured data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7145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question types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7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1" name="Google Shape;191;g32b047216f0_1_136"/>
          <p:cNvSpPr txBox="1">
            <a:spLocks noGrp="1"/>
          </p:cNvSpPr>
          <p:nvPr>
            <p:ph type="title"/>
          </p:nvPr>
        </p:nvSpPr>
        <p:spPr>
          <a:xfrm>
            <a:off x="503191" y="173370"/>
            <a:ext cx="81837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192" name="Google Shape;192;g32b047216f0_1_136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b047216f0_1_147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01" name="Google Shape;201;g32b047216f0_1_14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202" name="Google Shape;202;g32b047216f0_1_147"/>
          <p:cNvGraphicFramePr/>
          <p:nvPr>
            <p:extLst>
              <p:ext uri="{D42A27DB-BD31-4B8C-83A1-F6EECF244321}">
                <p14:modId xmlns:p14="http://schemas.microsoft.com/office/powerpoint/2010/main" val="1834233652"/>
              </p:ext>
            </p:extLst>
          </p:nvPr>
        </p:nvGraphicFramePr>
        <p:xfrm>
          <a:off x="81387" y="849615"/>
          <a:ext cx="8981225" cy="3444270"/>
        </p:xfrm>
        <a:graphic>
          <a:graphicData uri="http://schemas.openxmlformats.org/drawingml/2006/table">
            <a:tbl>
              <a:tblPr firstRow="1" bandRow="1">
                <a:noFill/>
                <a:tableStyleId>{E4835D47-95D8-479B-85BA-988B438AB2C6}</a:tableStyleId>
              </a:tblPr>
              <a:tblGrid>
                <a:gridCol w="73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Slno.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Paper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Technology Used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Disadvantages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3799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5.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spc="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 Study on an Intelligent Algorithm for Automatic Test Paper Generation in University English Exams [5]</a:t>
                      </a:r>
                      <a:endParaRPr sz="1600" u="none" strike="noStrike" cap="none" spc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IGA for Question Selection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Constraint-Based Test Paper Generation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78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Question Distribution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71450" marR="0" lvl="0" indent="-1778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Customizable Difficulty Levels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244690" lvl="0" indent="-2095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Subjective  Limitations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244690" lvl="0" indent="-2095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 Complexity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5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6.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 Exam Correction Framework for the MCQs, Essays and Equations Matching [6]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238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Embeddings: Word2Vec, </a:t>
                      </a: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FastText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238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Similarity:HMB-MMS-EMA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Cosine, Pearson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Question Support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7145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Intelligent Equation Matching</a:t>
                      </a:r>
                      <a:endParaRPr sz="1600" u="none" strike="noStrike" cap="none"/>
                    </a:p>
                  </a:txBody>
                  <a:tcPr marL="11430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095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Complex Equation Support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095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 Needs</a:t>
                      </a:r>
                      <a:endParaRPr sz="16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3" name="Google Shape;203;g32b047216f0_1_147"/>
          <p:cNvSpPr txBox="1">
            <a:spLocks noGrp="1"/>
          </p:cNvSpPr>
          <p:nvPr>
            <p:ph type="title"/>
          </p:nvPr>
        </p:nvSpPr>
        <p:spPr>
          <a:xfrm>
            <a:off x="503191" y="173370"/>
            <a:ext cx="81837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204" name="Google Shape;204;g32b047216f0_1_147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b047216f0_1_158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13" name="Google Shape;213;g32b047216f0_1_15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214" name="Google Shape;214;g32b047216f0_1_158"/>
          <p:cNvGraphicFramePr/>
          <p:nvPr>
            <p:extLst>
              <p:ext uri="{D42A27DB-BD31-4B8C-83A1-F6EECF244321}">
                <p14:modId xmlns:p14="http://schemas.microsoft.com/office/powerpoint/2010/main" val="2737414387"/>
              </p:ext>
            </p:extLst>
          </p:nvPr>
        </p:nvGraphicFramePr>
        <p:xfrm>
          <a:off x="150878" y="952874"/>
          <a:ext cx="8888325" cy="3447476"/>
        </p:xfrm>
        <a:graphic>
          <a:graphicData uri="http://schemas.openxmlformats.org/drawingml/2006/table">
            <a:tbl>
              <a:tblPr firstRow="1" bandRow="1">
                <a:noFill/>
                <a:tableStyleId>{E4835D47-95D8-479B-85BA-988B438AB2C6}</a:tableStyleId>
              </a:tblPr>
              <a:tblGrid>
                <a:gridCol w="685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2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37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Slno.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Technology Used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Disadvantages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8098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7.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 Robust Evaluation: A Comprehensive Taxonomy for Open Domain Question Answering [7]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26633" lvl="0" indent="-2349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ODQA Techniques: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-  Retriever-Only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- Generator-Only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349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LLM-Based Evaluation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Evaluation Taxonomy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Holistic ODQA Assessment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LLM-Focused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imes New Roman"/>
                        <a:buChar char="●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Real-Time Application Focus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8006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8.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 Question Generation from Given Paragraph [8]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Preprocessing: Tokenization, POS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Model: Seq2Seq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09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Evaluation: BLEU, Human Feedback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Personalized Learning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Cross-Domain Application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66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Ambiguous Text Handling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266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Question Type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" name="Google Shape;215;g32b047216f0_1_158"/>
          <p:cNvSpPr txBox="1">
            <a:spLocks noGrp="1"/>
          </p:cNvSpPr>
          <p:nvPr>
            <p:ph type="title"/>
          </p:nvPr>
        </p:nvSpPr>
        <p:spPr>
          <a:xfrm>
            <a:off x="503191" y="173370"/>
            <a:ext cx="81837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216" name="Google Shape;216;g32b047216f0_1_158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047216f0_1_169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25" name="Google Shape;225;g32b047216f0_1_16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226" name="Google Shape;226;g32b047216f0_1_169"/>
          <p:cNvGraphicFramePr/>
          <p:nvPr>
            <p:extLst>
              <p:ext uri="{D42A27DB-BD31-4B8C-83A1-F6EECF244321}">
                <p14:modId xmlns:p14="http://schemas.microsoft.com/office/powerpoint/2010/main" val="1745566948"/>
              </p:ext>
            </p:extLst>
          </p:nvPr>
        </p:nvGraphicFramePr>
        <p:xfrm>
          <a:off x="152400" y="886467"/>
          <a:ext cx="8818425" cy="3444270"/>
        </p:xfrm>
        <a:graphic>
          <a:graphicData uri="http://schemas.openxmlformats.org/drawingml/2006/table">
            <a:tbl>
              <a:tblPr firstRow="1" bandRow="1">
                <a:noFill/>
                <a:tableStyleId>{E4835D47-95D8-479B-85BA-988B438AB2C6}</a:tableStyleId>
              </a:tblPr>
              <a:tblGrid>
                <a:gridCol w="68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2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96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Slno.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/>
                        <a:t>Technology Used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Advantages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93192" marR="0" lvl="0" indent="-210312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strike="noStrike" cap="none" dirty="0"/>
                        <a:t>Disadvantages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50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9.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Investigating Educational and Noneducational Answer Selection for Educational Question Generation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[9]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34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Preprocessing: Tokenization, POS Tagging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34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Question Generation: Seq2Seq, Transformers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endParaRPr sz="1600" u="none" strike="noStrike" cap="none" dirty="0"/>
                    </a:p>
                  </a:txBody>
                  <a:tcPr marL="11430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190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Dual-mode answer selection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190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Ensures contextual relevance 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93192" marR="0" lvl="0" indent="-28651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•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a</a:t>
                      </a: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ccuracy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93192" marR="0" lvl="0" indent="-28651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Difficult to distinguish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7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/>
                        <a:t>10.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Systematic Review of Automatic Question Generation for Educational Purposes[10]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 of Methods: Template-Based, Rule-Based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8575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Metrics: BLEU, ROUGE, Human Assessments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2004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review across domains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20040" marR="0" lvl="0" indent="-323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on evaluation benchmarks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29768" marR="0" lvl="0" indent="-4152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AI capabilities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29768" marR="0" lvl="0" indent="-41529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Char char="•"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Potential bias in selected literature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" name="Google Shape;227;g32b047216f0_1_169"/>
          <p:cNvSpPr txBox="1">
            <a:spLocks noGrp="1"/>
          </p:cNvSpPr>
          <p:nvPr>
            <p:ph type="title"/>
          </p:nvPr>
        </p:nvSpPr>
        <p:spPr>
          <a:xfrm>
            <a:off x="884266" y="138920"/>
            <a:ext cx="81837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228" name="Google Shape;228;g32b047216f0_1_169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b047216f0_1_327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37" name="Google Shape;237;g32b047216f0_1_3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8" name="Google Shape;238;g32b047216f0_1_32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High Computational Requirements :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Needs powerful GPUs/CPUs for processing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Not suitable for low-resource environments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762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Difficulty with Complex Questions: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Struggles with subjective questions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Handles ambiguity poorly in generated questions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762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Dependence on Quality Data: 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Requires structured, high-quality datasets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Poor performance with noisy or unstructured data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g32b047216f0_1_327"/>
          <p:cNvSpPr txBox="1">
            <a:spLocks noGrp="1"/>
          </p:cNvSpPr>
          <p:nvPr>
            <p:ph type="title"/>
          </p:nvPr>
        </p:nvSpPr>
        <p:spPr>
          <a:xfrm>
            <a:off x="0" y="205979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Cons of Existing System</a:t>
            </a:r>
            <a:endParaRPr lang="en-US" sz="4000" dirty="0"/>
          </a:p>
        </p:txBody>
      </p:sp>
      <p:sp>
        <p:nvSpPr>
          <p:cNvPr id="240" name="Google Shape;240;g32b047216f0_1_327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05175EA-967A-16E6-2598-D01BD446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b047216f0_1_327">
            <a:extLst>
              <a:ext uri="{FF2B5EF4-FFF2-40B4-BE49-F238E27FC236}">
                <a16:creationId xmlns:a16="http://schemas.microsoft.com/office/drawing/2014/main" id="{5E2A91D1-455E-B4BF-484F-E78F8DAD6F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37" name="Google Shape;237;g32b047216f0_1_327">
            <a:extLst>
              <a:ext uri="{FF2B5EF4-FFF2-40B4-BE49-F238E27FC236}">
                <a16:creationId xmlns:a16="http://schemas.microsoft.com/office/drawing/2014/main" id="{81CAC857-70F0-1DAD-8E92-7AC815C91B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38" name="Google Shape;238;g32b047216f0_1_327">
            <a:extLst>
              <a:ext uri="{FF2B5EF4-FFF2-40B4-BE49-F238E27FC236}">
                <a16:creationId xmlns:a16="http://schemas.microsoft.com/office/drawing/2014/main" id="{1FEF8B93-96D5-797D-65DF-20D2BC88D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754674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Question Generation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Uses T5 Large, FLAN-T5 and Sense2Vec models to generate MCQs and subjective questions from uploaded documents.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Examination Platform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Conducts tests based on the generated questions.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Answer Evaluation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Analyses responses for accuracy and relevance.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Generates graphical insights on student performance.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8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39" name="Google Shape;239;g32b047216f0_1_327">
            <a:extLst>
              <a:ext uri="{FF2B5EF4-FFF2-40B4-BE49-F238E27FC236}">
                <a16:creationId xmlns:a16="http://schemas.microsoft.com/office/drawing/2014/main" id="{BC6605EA-61A4-2244-25B2-26DC6213E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05979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lang="en-US" sz="4000" dirty="0"/>
          </a:p>
        </p:txBody>
      </p:sp>
      <p:sp>
        <p:nvSpPr>
          <p:cNvPr id="240" name="Google Shape;240;g32b047216f0_1_327">
            <a:extLst>
              <a:ext uri="{FF2B5EF4-FFF2-40B4-BE49-F238E27FC236}">
                <a16:creationId xmlns:a16="http://schemas.microsoft.com/office/drawing/2014/main" id="{22EABC59-09F4-E901-B53A-3706BC92207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719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fad29a1750_2_0"/>
          <p:cNvSpPr txBox="1">
            <a:spLocks noGrp="1"/>
          </p:cNvSpPr>
          <p:nvPr>
            <p:ph type="title"/>
          </p:nvPr>
        </p:nvSpPr>
        <p:spPr>
          <a:xfrm>
            <a:off x="380988" y="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Architecture Design</a:t>
            </a:r>
          </a:p>
        </p:txBody>
      </p:sp>
      <p:sp>
        <p:nvSpPr>
          <p:cNvPr id="260" name="Google Shape;260;g2fad29a1750_2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61" name="Google Shape;261;g2fad29a1750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62" name="Google Shape;262;g2fad29a1750_2_0"/>
          <p:cNvPicPr preferRelativeResize="0"/>
          <p:nvPr/>
        </p:nvPicPr>
        <p:blipFill rotWithShape="1">
          <a:blip r:embed="rId3">
            <a:alphaModFix/>
          </a:blip>
          <a:srcRect l="1539" t="5469" r="5105" b="3679"/>
          <a:stretch/>
        </p:blipFill>
        <p:spPr>
          <a:xfrm>
            <a:off x="264275" y="857400"/>
            <a:ext cx="8817926" cy="39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fad29a1750_2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ad29a1750_2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Architecture Design</a:t>
            </a:r>
          </a:p>
        </p:txBody>
      </p:sp>
      <p:sp>
        <p:nvSpPr>
          <p:cNvPr id="271" name="Google Shape;271;g2fad29a1750_2_1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72" name="Google Shape;272;g2fad29a1750_2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73" name="Google Shape;273;g2fad29a1750_2_10"/>
          <p:cNvPicPr preferRelativeResize="0"/>
          <p:nvPr/>
        </p:nvPicPr>
        <p:blipFill rotWithShape="1">
          <a:blip r:embed="rId3">
            <a:alphaModFix/>
          </a:blip>
          <a:srcRect l="2750" r="7359"/>
          <a:stretch/>
        </p:blipFill>
        <p:spPr>
          <a:xfrm>
            <a:off x="288650" y="1690975"/>
            <a:ext cx="8517175" cy="26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2fad29a1750_2_10"/>
          <p:cNvSpPr txBox="1"/>
          <p:nvPr/>
        </p:nvSpPr>
        <p:spPr>
          <a:xfrm>
            <a:off x="509550" y="1009525"/>
            <a:ext cx="5517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T5-Model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g2fad29a1750_2_1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2196b0555_0_25"/>
          <p:cNvSpPr txBox="1">
            <a:spLocks noGrp="1"/>
          </p:cNvSpPr>
          <p:nvPr>
            <p:ph type="title"/>
          </p:nvPr>
        </p:nvSpPr>
        <p:spPr>
          <a:xfrm>
            <a:off x="457200" y="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Architecture Design</a:t>
            </a:r>
          </a:p>
        </p:txBody>
      </p:sp>
      <p:sp>
        <p:nvSpPr>
          <p:cNvPr id="283" name="Google Shape;283;g312196b0555_0_25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84" name="Google Shape;284;g312196b0555_0_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85" name="Google Shape;285;g312196b0555_0_25"/>
          <p:cNvSpPr txBox="1"/>
          <p:nvPr/>
        </p:nvSpPr>
        <p:spPr>
          <a:xfrm>
            <a:off x="499975" y="693450"/>
            <a:ext cx="5517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BERT-Model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g312196b0555_0_25"/>
          <p:cNvPicPr preferRelativeResize="0"/>
          <p:nvPr/>
        </p:nvPicPr>
        <p:blipFill rotWithShape="1">
          <a:blip r:embed="rId3">
            <a:alphaModFix/>
          </a:blip>
          <a:srcRect l="3969" t="8932" r="10470" b="4327"/>
          <a:stretch/>
        </p:blipFill>
        <p:spPr>
          <a:xfrm>
            <a:off x="499975" y="1237725"/>
            <a:ext cx="8067514" cy="355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12196b0555_0_25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d94ff48b5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Details</a:t>
            </a:r>
            <a:endParaRPr lang="en-US" sz="4000" dirty="0"/>
          </a:p>
        </p:txBody>
      </p:sp>
      <p:sp>
        <p:nvSpPr>
          <p:cNvPr id="295" name="Google Shape;295;g2fd94ff48b5_2_0"/>
          <p:cNvSpPr txBox="1"/>
          <p:nvPr/>
        </p:nvSpPr>
        <p:spPr>
          <a:xfrm>
            <a:off x="554275" y="1179000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Question Answer Generation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Text-Voice Conversion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Validation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Reporting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2fd94ff48b5_2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97" name="Google Shape;297;g2fd94ff48b5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98" name="Google Shape;298;g2fd94ff48b5_2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cd12a5785_0_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Details</a:t>
            </a:r>
            <a:endParaRPr lang="en-US" sz="4000" dirty="0"/>
          </a:p>
        </p:txBody>
      </p:sp>
      <p:sp>
        <p:nvSpPr>
          <p:cNvPr id="306" name="Google Shape;306;g2fcd12a5785_0_8"/>
          <p:cNvSpPr txBox="1"/>
          <p:nvPr/>
        </p:nvSpPr>
        <p:spPr>
          <a:xfrm>
            <a:off x="554400" y="1063379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Question Answer Generation: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Types: Multiple-choice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short answer questions.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Extraction: Extract text content from PDF notes using PyPDF2.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  and Answer Generation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- MCQ : Using Flan-T5 Transformer Model</a:t>
            </a:r>
          </a:p>
          <a:p>
            <a:pPr marL="1143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- Subjective Question : Using T5 Large Transformer Model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Distractor Generation for MCQ: Using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API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2fcd12a5785_0_8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08" name="Google Shape;308;g2fcd12a5785_0_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09" name="Google Shape;309;g2fcd12a5785_0_8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b047216f0_0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Algorithm</a:t>
            </a:r>
            <a:endParaRPr lang="en-US" sz="4000" dirty="0"/>
          </a:p>
        </p:txBody>
      </p:sp>
      <p:sp>
        <p:nvSpPr>
          <p:cNvPr id="317" name="Google Shape;317;g32b047216f0_0_10"/>
          <p:cNvSpPr txBox="1"/>
          <p:nvPr/>
        </p:nvSpPr>
        <p:spPr>
          <a:xfrm>
            <a:off x="554400" y="1063379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1.A.   T5 Question Generation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Text Preprocessing: Tokenize text, remove stop words and </a:t>
            </a:r>
            <a:r>
              <a:rPr lang="en-US" sz="17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punctuation,convert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text to lowercase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Encode Text: Load T5 Encoder </a:t>
            </a:r>
            <a:r>
              <a:rPr lang="en-US" sz="17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model,convert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processed text into embeddings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Question Generation: Load T5 Decoder </a:t>
            </a:r>
            <a:r>
              <a:rPr lang="en-US" sz="17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model,generate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question from encoder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output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Post-processing: Remove special tokens &amp; </a:t>
            </a:r>
            <a:r>
              <a:rPr lang="en-US" sz="17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punctuation,capitalize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 letter of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question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Display Questions: Rank generated questions based on relevance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g32b047216f0_0_1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19" name="Google Shape;319;g32b047216f0_0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20" name="Google Shape;320;g32b047216f0_0_1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b047216f0_0_2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Algorithm</a:t>
            </a:r>
            <a:endParaRPr lang="en-US" sz="4000" dirty="0"/>
          </a:p>
        </p:txBody>
      </p:sp>
      <p:sp>
        <p:nvSpPr>
          <p:cNvPr id="328" name="Google Shape;328;g32b047216f0_0_21"/>
          <p:cNvSpPr txBox="1"/>
          <p:nvPr/>
        </p:nvSpPr>
        <p:spPr>
          <a:xfrm>
            <a:off x="554400" y="808070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1.B.   BERT Answer Extraction</a:t>
            </a:r>
            <a:endParaRPr sz="17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Text Preprocessing: Tokenize summarized text &amp; question,Convert to lowercase, 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1714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remove special tokens &amp; punctuation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Generate BERT Embeddings: Load BERT model,Obtain embeddings for text &amp; 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question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Contextualized Embeddings: Use BERT encoder to get contextualized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embeddings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Answer Prediction: Use BERT classifier to predict the answer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Post-processing: Remove special tokens &amp; punctuation,Convert answer to 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2857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lowercase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g32b047216f0_0_21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30" name="Google Shape;330;g32b047216f0_0_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31" name="Google Shape;331;g32b047216f0_0_21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2b047216f0_0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Details</a:t>
            </a:r>
            <a:endParaRPr lang="en-US" sz="4000" dirty="0"/>
          </a:p>
        </p:txBody>
      </p:sp>
      <p:sp>
        <p:nvSpPr>
          <p:cNvPr id="350" name="Google Shape;350;g32b047216f0_0_0"/>
          <p:cNvSpPr txBox="1"/>
          <p:nvPr/>
        </p:nvSpPr>
        <p:spPr>
          <a:xfrm>
            <a:off x="554400" y="1063379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Text-Voice Conversion: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Text-to-Voice Engine: Integration with text-to-speech (TTS) services.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Voice-to-Text Engine: Integration with speech-to-text (STT) services.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Speech API: TTS and STT services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TTS: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speechSynthesis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STT: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SpeechRecognition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g32b047216f0_0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52" name="Google Shape;352;g32b047216f0_0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53" name="Google Shape;353;g32b047216f0_0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fcd12a5785_0_2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Details</a:t>
            </a:r>
            <a:endParaRPr lang="en-US" sz="4000" dirty="0"/>
          </a:p>
        </p:txBody>
      </p:sp>
      <p:sp>
        <p:nvSpPr>
          <p:cNvPr id="361" name="Google Shape;361;g2fcd12a5785_0_21"/>
          <p:cNvSpPr txBox="1"/>
          <p:nvPr/>
        </p:nvSpPr>
        <p:spPr>
          <a:xfrm>
            <a:off x="554400" y="1048807"/>
            <a:ext cx="8132400" cy="3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Answer Validation: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Grading: Validate and score student answers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Grading System: Assign scores based on correctness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MCQ questions: correct answer is stored in database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subjective questions: semantic score is calculated and stored in database\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transformer is used for finding similarity score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g2fcd12a5785_0_21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63" name="Google Shape;363;g2fcd12a5785_0_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64" name="Google Shape;364;g2fcd12a5785_0_21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2b0882ff72_0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Algorithm</a:t>
            </a:r>
            <a:endParaRPr lang="en-US" sz="4000" dirty="0"/>
          </a:p>
        </p:txBody>
      </p:sp>
      <p:sp>
        <p:nvSpPr>
          <p:cNvPr id="372" name="Google Shape;372;g32b0882ff72_0_0"/>
          <p:cNvSpPr txBox="1"/>
          <p:nvPr/>
        </p:nvSpPr>
        <p:spPr>
          <a:xfrm>
            <a:off x="554400" y="1048807"/>
            <a:ext cx="8132400" cy="3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3.A.   Sentence Transformers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Sentence_Similarity(text1, text2):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1: preprocessed_text1 ← Preprocess_Text(text1)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2: preprocessed_text2 ← Preprocess_Text(text2)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3: model ← Initialize_Model()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4: embeddings1 ← Generate_Embeddings(model, preprocessed_text1)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5: embeddings2 ← Generate_Embeddings(model, preprocessed_text2)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6: similarity_score ← Compute_Similarity(embeddings1, embeddings2)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7: Return similarity_score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g32b0882ff72_0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74" name="Google Shape;374;g32b0882ff72_0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75" name="Google Shape;375;g32b0882ff72_0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2b0882ff72_0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Module Details</a:t>
            </a:r>
            <a:endParaRPr lang="en-US" sz="4000" dirty="0"/>
          </a:p>
        </p:txBody>
      </p:sp>
      <p:sp>
        <p:nvSpPr>
          <p:cNvPr id="383" name="Google Shape;383;g32b0882ff72_0_10"/>
          <p:cNvSpPr txBox="1"/>
          <p:nvPr/>
        </p:nvSpPr>
        <p:spPr>
          <a:xfrm>
            <a:off x="554400" y="1048807"/>
            <a:ext cx="8132400" cy="3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	Progress Reporting: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Performance Tracking: Track and display student progress.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Analytics: Detailed analysis of student performance over time.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Dashboard: Visualize student performance metrics.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g32b0882ff72_0_1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85" name="Google Shape;385;g32b0882ff72_0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86" name="Google Shape;386;g32b0882ff72_0_1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12283a6a2a_1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lang="en-US" sz="4000" dirty="0"/>
          </a:p>
        </p:txBody>
      </p:sp>
      <p:sp>
        <p:nvSpPr>
          <p:cNvPr id="394" name="Google Shape;394;g312283a6a2a_1_0"/>
          <p:cNvSpPr txBox="1"/>
          <p:nvPr/>
        </p:nvSpPr>
        <p:spPr>
          <a:xfrm>
            <a:off x="554400" y="1063379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Upload and Text Extraction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Extraction: PyPDF2 to extract text from the uploaded PDF document.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Segmenting Text: Split the extracted text into manageable segments or paragraphs 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Summarization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Flan-T5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Model: Use the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Flan-T5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for text summarization.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Summarization Process: For each segment of text, feed it into the Flan-T5 model to generate a concise summary. 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12283a6a2a_1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396" name="Google Shape;396;g312283a6a2a_1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97" name="Google Shape;397;g312283a6a2a_1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12283a6a2a_1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lang="en-US" sz="4000" dirty="0"/>
          </a:p>
        </p:txBody>
      </p:sp>
      <p:sp>
        <p:nvSpPr>
          <p:cNvPr id="405" name="Google Shape;405;g312283a6a2a_1_10"/>
          <p:cNvSpPr txBox="1"/>
          <p:nvPr/>
        </p:nvSpPr>
        <p:spPr>
          <a:xfrm>
            <a:off x="554400" y="1063379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Generation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 Flan-T5 Model : Use the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Flan-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 model specifically for generating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MCQs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Large T5 Model : Use Large T5 model for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Subjective Question Generation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Extraction for Questions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T5 Model Integration: Use Large T5 model to extract the correct answer from the summarized text.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Questions and Answers: Store the generated questions and their corresponding correct   answers in a database 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312283a6a2a_1_1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07" name="Google Shape;407;g312283a6a2a_1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08" name="Google Shape;408;g312283a6a2a_1_1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2283a6a2a_1_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lang="en-US" sz="4000" dirty="0"/>
          </a:p>
        </p:txBody>
      </p:sp>
      <p:sp>
        <p:nvSpPr>
          <p:cNvPr id="416" name="Google Shape;416;g312283a6a2a_1_20"/>
          <p:cNvSpPr txBox="1"/>
          <p:nvPr/>
        </p:nvSpPr>
        <p:spPr>
          <a:xfrm>
            <a:off x="554400" y="1063379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g312283a6a2a_1_2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18" name="Google Shape;418;g312283a6a2a_1_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19" name="Google Shape;419;g312283a6a2a_1_2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0509BC-E49F-CB7F-6C97-A1B8D0AB6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1465675"/>
            <a:ext cx="88301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Distractor Generation for MCQs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Generates contextually relevant and diverse distractors using advanced language understanding.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MCQ Options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Combine the correct answer with generated distractors to form the final answer choices.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12283a6a2a_1_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lang="en-US" sz="4000" dirty="0"/>
          </a:p>
        </p:txBody>
      </p:sp>
      <p:sp>
        <p:nvSpPr>
          <p:cNvPr id="427" name="Google Shape;427;g312283a6a2a_1_30"/>
          <p:cNvSpPr txBox="1"/>
          <p:nvPr/>
        </p:nvSpPr>
        <p:spPr>
          <a:xfrm>
            <a:off x="554400" y="818830"/>
            <a:ext cx="8132400" cy="3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Validation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 Validation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the user's answer with the correct answer stored in the database.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Subjective Answer Validation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7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Semantic Score Calculation: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- Generate Embeddings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 Preprocess Text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 Compute Semantic Score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 Validation Criteria</a:t>
            </a:r>
            <a:endParaRPr sz="17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g312283a6a2a_1_3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29" name="Google Shape;429;g312283a6a2a_1_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30" name="Google Shape;430;g312283a6a2a_1_3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b0c8901ff_0_0"/>
          <p:cNvSpPr txBox="1">
            <a:spLocks noGrp="1"/>
          </p:cNvSpPr>
          <p:nvPr>
            <p:ph type="ftr" idx="11"/>
          </p:nvPr>
        </p:nvSpPr>
        <p:spPr>
          <a:xfrm>
            <a:off x="29718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249" name="Google Shape;249;g32b0c8901ff_0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50" name="Google Shape;250;g32b0c8901ff_0_0"/>
          <p:cNvSpPr txBox="1">
            <a:spLocks noGrp="1"/>
          </p:cNvSpPr>
          <p:nvPr>
            <p:ph type="body" idx="1"/>
          </p:nvPr>
        </p:nvSpPr>
        <p:spPr>
          <a:xfrm>
            <a:off x="351975" y="558876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Optimized Computational Efficiency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Efficient on both powerful and low-resource environments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Advanced Handling of Complex and Subjective Questions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Improved processing complex, ambiguous and subjective queries.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Context-aware reasoning and enhanced natural language understanding.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High-Quality Distractor Generation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Advanced distractor generation mechanism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Improved training and testing quality.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g32b0c8901ff_0_0"/>
          <p:cNvSpPr txBox="1">
            <a:spLocks noGrp="1"/>
          </p:cNvSpPr>
          <p:nvPr>
            <p:ph type="title"/>
          </p:nvPr>
        </p:nvSpPr>
        <p:spPr>
          <a:xfrm>
            <a:off x="105200" y="205079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Pros of Proposed System</a:t>
            </a:r>
            <a:endParaRPr lang="en-US" sz="4000" dirty="0"/>
          </a:p>
        </p:txBody>
      </p:sp>
      <p:sp>
        <p:nvSpPr>
          <p:cNvPr id="252" name="Google Shape;252;g32b0c8901ff_0_0"/>
          <p:cNvSpPr txBox="1">
            <a:spLocks noGrp="1"/>
          </p:cNvSpPr>
          <p:nvPr>
            <p:ph type="dt" idx="10"/>
          </p:nvPr>
        </p:nvSpPr>
        <p:spPr>
          <a:xfrm>
            <a:off x="152400" y="4781550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2118ffd5a_0_1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</a:p>
        </p:txBody>
      </p:sp>
      <p:sp>
        <p:nvSpPr>
          <p:cNvPr id="438" name="Google Shape;438;g2f2118ffd5a_0_15"/>
          <p:cNvSpPr txBox="1"/>
          <p:nvPr/>
        </p:nvSpPr>
        <p:spPr>
          <a:xfrm>
            <a:off x="551096" y="758628"/>
            <a:ext cx="7414200" cy="475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SQuAD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(Stanford Question Answering Dataset) is a widely used benchmark dataset in NLP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especially for tasks related to reading comprehension, question answering and question generation.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SQuAD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enhances AQG by training Seq2Seq models to generate answer-aware and context-aware questions.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Fine-tuning, paraphrasing and reinforcement learning improve fluency, coherence and diversity, making it a crucial dataset for question generation.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9" name="Google Shape;439;g2f2118ffd5a_0_15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40" name="Google Shape;440;g2f2118ffd5a_0_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41" name="Google Shape;441;g2f2118ffd5a_0_15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12196b0555_0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</a:p>
        </p:txBody>
      </p:sp>
      <p:sp>
        <p:nvSpPr>
          <p:cNvPr id="449" name="Google Shape;449;g312196b0555_0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50" name="Google Shape;450;g312196b0555_0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aphicFrame>
        <p:nvGraphicFramePr>
          <p:cNvPr id="451" name="Google Shape;451;g312196b0555_0_0"/>
          <p:cNvGraphicFramePr/>
          <p:nvPr>
            <p:extLst>
              <p:ext uri="{D42A27DB-BD31-4B8C-83A1-F6EECF244321}">
                <p14:modId xmlns:p14="http://schemas.microsoft.com/office/powerpoint/2010/main" val="1703208532"/>
              </p:ext>
            </p:extLst>
          </p:nvPr>
        </p:nvGraphicFramePr>
        <p:xfrm>
          <a:off x="501650" y="943450"/>
          <a:ext cx="8325400" cy="3845000"/>
        </p:xfrm>
        <a:graphic>
          <a:graphicData uri="http://schemas.openxmlformats.org/drawingml/2006/table">
            <a:tbl>
              <a:tblPr>
                <a:noFill/>
                <a:tableStyleId>{87931132-B332-4060-B0A1-36B713314E26}</a:tableStyleId>
              </a:tblPr>
              <a:tblGrid>
                <a:gridCol w="252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Column Name</a:t>
                      </a:r>
                      <a:endParaRPr sz="1600" b="1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6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Unique question ID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Integer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 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context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Article text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question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text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answers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Answer(s) to the question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List of Strings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answer_start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Starting character index of answer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answer_end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Ending character index of answer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Integer</a:t>
                      </a:r>
                      <a:endParaRPr sz="16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2" name="Google Shape;452;g312196b0555_0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fd94ff48b5_0_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</a:p>
        </p:txBody>
      </p:sp>
      <p:sp>
        <p:nvSpPr>
          <p:cNvPr id="460" name="Google Shape;460;g2fd94ff48b5_0_9"/>
          <p:cNvSpPr txBox="1"/>
          <p:nvPr/>
        </p:nvSpPr>
        <p:spPr>
          <a:xfrm>
            <a:off x="629250" y="1391675"/>
            <a:ext cx="741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just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1" name="Google Shape;461;g2fd94ff48b5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6225" y="942125"/>
            <a:ext cx="6325850" cy="37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2fd94ff48b5_0_9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63" name="Google Shape;463;g2fd94ff48b5_0_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64" name="Google Shape;464;g2fd94ff48b5_0_9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f1efae1c2f_5_0"/>
          <p:cNvSpPr txBox="1">
            <a:spLocks noGrp="1"/>
          </p:cNvSpPr>
          <p:nvPr>
            <p:ph type="title"/>
          </p:nvPr>
        </p:nvSpPr>
        <p:spPr>
          <a:xfrm>
            <a:off x="457200" y="13239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</a:p>
        </p:txBody>
      </p:sp>
      <p:sp>
        <p:nvSpPr>
          <p:cNvPr id="472" name="Google Shape;472;g2f1efae1c2f_5_0"/>
          <p:cNvSpPr txBox="1"/>
          <p:nvPr/>
        </p:nvSpPr>
        <p:spPr>
          <a:xfrm>
            <a:off x="1066950" y="1646950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g2f1efae1c2f_5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74" name="Google Shape;474;g2f1efae1c2f_5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75" name="Google Shape;475;g2f1efae1c2f_5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pic>
        <p:nvPicPr>
          <p:cNvPr id="476" name="Google Shape;476;g2f1efae1c2f_5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863125"/>
            <a:ext cx="8163169" cy="341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2f1efae1c2f_5_0"/>
          <p:cNvSpPr txBox="1"/>
          <p:nvPr/>
        </p:nvSpPr>
        <p:spPr>
          <a:xfrm>
            <a:off x="2745900" y="4280363"/>
            <a:ext cx="3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MCQ Questions and options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2b0c8901ff_1_1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</a:p>
        </p:txBody>
      </p:sp>
      <p:sp>
        <p:nvSpPr>
          <p:cNvPr id="485" name="Google Shape;485;g32b0c8901ff_1_12"/>
          <p:cNvSpPr txBox="1"/>
          <p:nvPr/>
        </p:nvSpPr>
        <p:spPr>
          <a:xfrm>
            <a:off x="1066950" y="1646950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g32b0c8901ff_1_1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487" name="Google Shape;487;g32b0c8901ff_1_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88" name="Google Shape;488;g32b0c8901ff_1_1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sp>
        <p:nvSpPr>
          <p:cNvPr id="489" name="Google Shape;489;g32b0c8901ff_1_12"/>
          <p:cNvSpPr txBox="1"/>
          <p:nvPr/>
        </p:nvSpPr>
        <p:spPr>
          <a:xfrm>
            <a:off x="2992500" y="4177613"/>
            <a:ext cx="3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Scorecard of MCQ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0" name="Google Shape;490;g32b0c8901ff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5887"/>
            <a:ext cx="7651262" cy="321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2b0c8901ff_1_25"/>
          <p:cNvSpPr txBox="1">
            <a:spLocks noGrp="1"/>
          </p:cNvSpPr>
          <p:nvPr>
            <p:ph type="title"/>
          </p:nvPr>
        </p:nvSpPr>
        <p:spPr>
          <a:xfrm>
            <a:off x="457200" y="12511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</a:p>
        </p:txBody>
      </p:sp>
      <p:sp>
        <p:nvSpPr>
          <p:cNvPr id="498" name="Google Shape;498;g32b0c8901ff_1_25"/>
          <p:cNvSpPr txBox="1"/>
          <p:nvPr/>
        </p:nvSpPr>
        <p:spPr>
          <a:xfrm>
            <a:off x="1066950" y="1646950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g32b0c8901ff_1_25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00" name="Google Shape;500;g32b0c8901ff_1_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01" name="Google Shape;501;g32b0c8901ff_1_25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sp>
        <p:nvSpPr>
          <p:cNvPr id="502" name="Google Shape;502;g32b0c8901ff_1_25"/>
          <p:cNvSpPr txBox="1"/>
          <p:nvPr/>
        </p:nvSpPr>
        <p:spPr>
          <a:xfrm>
            <a:off x="2669700" y="4294925"/>
            <a:ext cx="3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	 Subjective question generator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3" name="Google Shape;503;g32b0c8901ff_1_25"/>
          <p:cNvPicPr preferRelativeResize="0"/>
          <p:nvPr/>
        </p:nvPicPr>
        <p:blipFill rotWithShape="1">
          <a:blip r:embed="rId3">
            <a:alphaModFix/>
          </a:blip>
          <a:srcRect t="4534" r="2419"/>
          <a:stretch/>
        </p:blipFill>
        <p:spPr>
          <a:xfrm>
            <a:off x="268875" y="888425"/>
            <a:ext cx="8417927" cy="349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2b0c8901ff_1_3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Model Comparison</a:t>
            </a:r>
          </a:p>
        </p:txBody>
      </p:sp>
      <p:sp>
        <p:nvSpPr>
          <p:cNvPr id="511" name="Google Shape;511;g32b0c8901ff_1_38"/>
          <p:cNvSpPr txBox="1"/>
          <p:nvPr/>
        </p:nvSpPr>
        <p:spPr>
          <a:xfrm>
            <a:off x="1066950" y="1646950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g32b0c8901ff_1_38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13" name="Google Shape;513;g32b0c8901ff_1_3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14" name="Google Shape;514;g32b0c8901ff_1_38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sp>
        <p:nvSpPr>
          <p:cNvPr id="515" name="Google Shape;515;g32b0c8901ff_1_38"/>
          <p:cNvSpPr txBox="1"/>
          <p:nvPr/>
        </p:nvSpPr>
        <p:spPr>
          <a:xfrm>
            <a:off x="3648550" y="4451625"/>
            <a:ext cx="3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      MCQ generator model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6" name="Google Shape;516;g32b0c8901ff_1_38"/>
          <p:cNvPicPr preferRelativeResize="0"/>
          <p:nvPr/>
        </p:nvPicPr>
        <p:blipFill rotWithShape="1">
          <a:blip r:embed="rId3">
            <a:alphaModFix/>
          </a:blip>
          <a:srcRect l="2268" r="2828"/>
          <a:stretch/>
        </p:blipFill>
        <p:spPr>
          <a:xfrm>
            <a:off x="631250" y="932625"/>
            <a:ext cx="7867223" cy="351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b0c8901ff_1_6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Model Comparison</a:t>
            </a:r>
          </a:p>
        </p:txBody>
      </p:sp>
      <p:sp>
        <p:nvSpPr>
          <p:cNvPr id="524" name="Google Shape;524;g32b0c8901ff_1_66"/>
          <p:cNvSpPr txBox="1"/>
          <p:nvPr/>
        </p:nvSpPr>
        <p:spPr>
          <a:xfrm>
            <a:off x="1066950" y="1646950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g32b0c8901ff_1_66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26" name="Google Shape;526;g32b0c8901ff_1_6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27" name="Google Shape;527;g32b0c8901ff_1_66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sp>
        <p:nvSpPr>
          <p:cNvPr id="528" name="Google Shape;528;g32b0c8901ff_1_66"/>
          <p:cNvSpPr txBox="1"/>
          <p:nvPr/>
        </p:nvSpPr>
        <p:spPr>
          <a:xfrm>
            <a:off x="2669700" y="4371750"/>
            <a:ext cx="3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  Subjective question model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9" name="Google Shape;529;g32b0c8901ff_1_66"/>
          <p:cNvPicPr preferRelativeResize="0"/>
          <p:nvPr/>
        </p:nvPicPr>
        <p:blipFill rotWithShape="1">
          <a:blip r:embed="rId3">
            <a:alphaModFix/>
          </a:blip>
          <a:srcRect l="3233" r="3299"/>
          <a:stretch/>
        </p:blipFill>
        <p:spPr>
          <a:xfrm>
            <a:off x="946875" y="1016700"/>
            <a:ext cx="7119077" cy="33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2b0c8901ff_1_5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Model Comparison</a:t>
            </a:r>
          </a:p>
        </p:txBody>
      </p:sp>
      <p:sp>
        <p:nvSpPr>
          <p:cNvPr id="537" name="Google Shape;537;g32b0c8901ff_1_52"/>
          <p:cNvSpPr txBox="1"/>
          <p:nvPr/>
        </p:nvSpPr>
        <p:spPr>
          <a:xfrm>
            <a:off x="1066950" y="1646950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g32b0c8901ff_1_5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39" name="Google Shape;539;g32b0c8901ff_1_5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40" name="Google Shape;540;g32b0c8901ff_1_5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  <p:sp>
        <p:nvSpPr>
          <p:cNvPr id="541" name="Google Shape;541;g32b0c8901ff_1_52"/>
          <p:cNvSpPr txBox="1"/>
          <p:nvPr/>
        </p:nvSpPr>
        <p:spPr>
          <a:xfrm>
            <a:off x="2745900" y="4212800"/>
            <a:ext cx="36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BERT model after fine tuning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2" name="Google Shape;542;g32b0c8901ff_1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075" y="911800"/>
            <a:ext cx="6370925" cy="33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2b0c8901ff_1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</a:p>
        </p:txBody>
      </p:sp>
      <p:sp>
        <p:nvSpPr>
          <p:cNvPr id="550" name="Google Shape;550;g32b0c8901ff_1_0"/>
          <p:cNvSpPr txBox="1"/>
          <p:nvPr/>
        </p:nvSpPr>
        <p:spPr>
          <a:xfrm>
            <a:off x="1059135" y="1324950"/>
            <a:ext cx="61926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Operating System: Windows 8 or above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Programming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language:Python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3.9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IDE:Visual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Studio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Code,Google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Front-end:HTML,CSS,Python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Back-end:Django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Database:MysQL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g32b0c8901ff_1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52" name="Google Shape;552;g32b0c8901ff_1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53" name="Google Shape;553;g32b0c8901ff_1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f1efae1c2f_5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</a:p>
        </p:txBody>
      </p:sp>
      <p:sp>
        <p:nvSpPr>
          <p:cNvPr id="561" name="Google Shape;561;g2f1efae1c2f_5_10"/>
          <p:cNvSpPr txBox="1"/>
          <p:nvPr/>
        </p:nvSpPr>
        <p:spPr>
          <a:xfrm>
            <a:off x="965550" y="1346525"/>
            <a:ext cx="5830800" cy="3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Requirements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 12th Gen Intel Core i7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 Speed: 2.4GHz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Memory: 32 GB RAM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Graphics Card: NVIDIA RTX A4000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 Capacity: 1 TB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2f1efae1c2f_5_1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63" name="Google Shape;563;g2f1efae1c2f_5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64" name="Google Shape;564;g2f1efae1c2f_5_1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fc15d28620_0_3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572" name="Google Shape;572;g2fc15d28620_0_32"/>
          <p:cNvSpPr txBox="1"/>
          <p:nvPr/>
        </p:nvSpPr>
        <p:spPr>
          <a:xfrm>
            <a:off x="520200" y="840205"/>
            <a:ext cx="8166600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Automates question generation from PDF notes, improving efficiency and saving educator’s time.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at-risk students, enabling personalized interventions and support.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analysis of student performance with evaluation information.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 include attention tracking, sentiment analysis, adaptive learning modules, collaborative features and gamification.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Contributes to an inclusive learning environment, enhancing academic performance and supporting quality education.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g2fc15d28620_0_3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74" name="Google Shape;574;g2fc15d28620_0_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75" name="Google Shape;575;g2fc15d28620_0_3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f8e0d6f8ba_2_0"/>
          <p:cNvSpPr txBox="1">
            <a:spLocks noGrp="1"/>
          </p:cNvSpPr>
          <p:nvPr>
            <p:ph type="title"/>
          </p:nvPr>
        </p:nvSpPr>
        <p:spPr>
          <a:xfrm>
            <a:off x="457200" y="19379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583" name="Google Shape;583;g2f8e0d6f8ba_2_0"/>
          <p:cNvSpPr txBox="1"/>
          <p:nvPr/>
        </p:nvSpPr>
        <p:spPr>
          <a:xfrm>
            <a:off x="263825" y="1226582"/>
            <a:ext cx="83592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[1]Ching Nam Han, Chee Wei Tan ,Pei Duo-You ,” MCQGen: A Large Language Model-Driven MCQ Generator for Personalized Learning”,IEEE Access,Vol12,pp,102261-102273,2024, Doi:10.1109/ACCESS.2024.3420709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[2]Q. Z. Lim, C. P. Lee, K. M. Lim, and A. K. Samingan, "UniRaG: Unification, Retrieval, and Generation for Multimodal Question Answering With Pre-Trained Language Models," 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12, pp. 71505–71512, May 2024, doi: 10.1109/ACCESS.2024.3403101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g2f8e0d6f8ba_2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85" name="Google Shape;585;g2f8e0d6f8ba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86" name="Google Shape;586;g2f8e0d6f8ba_2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f8e0d6f8ba_2_14"/>
          <p:cNvSpPr txBox="1">
            <a:spLocks noGrp="1"/>
          </p:cNvSpPr>
          <p:nvPr>
            <p:ph type="title"/>
          </p:nvPr>
        </p:nvSpPr>
        <p:spPr>
          <a:xfrm>
            <a:off x="457200" y="19379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594" name="Google Shape;594;g2f8e0d6f8ba_2_14"/>
          <p:cNvSpPr txBox="1"/>
          <p:nvPr/>
        </p:nvSpPr>
        <p:spPr>
          <a:xfrm>
            <a:off x="675350" y="1322344"/>
            <a:ext cx="83592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[3]Babakhani, P., Lommatzsch, A., Brodt, T., Sacker, D., Sivrikaya, F., &amp; Albayrak, S. "Opinerium: Subjective Question Generation Using Large Language Models," IEEE Access, vol. 12, pp. 66085–66092, May 2024, doi: 10.1109/ACCESS.2024.3398553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[4]J. Xu, Y. Sun, J. Gan, M. Zhou, and D. Wu, “Leveraging Structured Information from a Passage to Generate Questions” ,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Tsinghua Science and Technology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28, no. 3, pp. 464–474, Jun. 2023, doi: 10.26599/TST.2022.9010034​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g2f8e0d6f8ba_2_14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596" name="Google Shape;596;g2f8e0d6f8ba_2_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97" name="Google Shape;597;g2f8e0d6f8ba_2_14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03295068b4_0_41"/>
          <p:cNvSpPr txBox="1">
            <a:spLocks noGrp="1"/>
          </p:cNvSpPr>
          <p:nvPr>
            <p:ph type="title"/>
          </p:nvPr>
        </p:nvSpPr>
        <p:spPr>
          <a:xfrm>
            <a:off x="457200" y="2007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605" name="Google Shape;605;g303295068b4_0_41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606" name="Google Shape;606;g303295068b4_0_4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07" name="Google Shape;607;g303295068b4_0_41"/>
          <p:cNvSpPr txBox="1"/>
          <p:nvPr/>
        </p:nvSpPr>
        <p:spPr>
          <a:xfrm>
            <a:off x="638100" y="1058175"/>
            <a:ext cx="77154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5]H. Yang, "A Study on an Intelligent Algorithm for Automatic Test Paper Generation and Scoring in University English Exams," *Journal of ICT Standardization*, vol. 11, no. 4, pp. 391-402, 2023. doi: [10.13052/JICTS2245-800X.1144]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[6]H. M. Balaha and M. M. Saafan, "Automatic Exam Correction Framework (AECF) for the MCQs, Essays, and Equations Matching," 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9, pp. 32368-32372, Feb. 2021, doi: 10.1109/ACCESS.2021.3060940​</a:t>
            </a:r>
            <a:endParaRPr sz="14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g303295068b4_0_41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f8e0d6f8ba_1_0"/>
          <p:cNvSpPr txBox="1">
            <a:spLocks noGrp="1"/>
          </p:cNvSpPr>
          <p:nvPr>
            <p:ph type="title"/>
          </p:nvPr>
        </p:nvSpPr>
        <p:spPr>
          <a:xfrm>
            <a:off x="457200" y="17040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616" name="Google Shape;616;g2f8e0d6f8ba_1_0"/>
          <p:cNvSpPr txBox="1"/>
          <p:nvPr/>
        </p:nvSpPr>
        <p:spPr>
          <a:xfrm>
            <a:off x="600925" y="1280173"/>
            <a:ext cx="83592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A. Srivastava and A. Memon, "Toward Robust Evaluation: A Comprehensive Taxonomy of Datasets and Metrics for Open Domain Question Answering in the Era of Large Language Models," 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12, pp. 117483-117489, Sep. 2024, doi: 10.1109/ACCESS.2024.3446854​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[8]H. G. Deokate, P. P. Jogdand, P. S. Satpute, and S. B. Shaikh, "Automatic Question Generation from Given Paragraph," International Journal for Scientific Research &amp; Development (IJSRD), vol. 7, no. 3, pp. 1521-1523, Mar. 2019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g2f8e0d6f8ba_1_0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618" name="Google Shape;618;g2f8e0d6f8ba_1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19" name="Google Shape;619;g2f8e0d6f8ba_1_0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f8e0d6f8ba_1_12"/>
          <p:cNvSpPr txBox="1">
            <a:spLocks noGrp="1"/>
          </p:cNvSpPr>
          <p:nvPr>
            <p:ph type="title"/>
          </p:nvPr>
        </p:nvSpPr>
        <p:spPr>
          <a:xfrm>
            <a:off x="457200" y="20319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627" name="Google Shape;627;g2f8e0d6f8ba_1_12"/>
          <p:cNvSpPr txBox="1"/>
          <p:nvPr/>
        </p:nvSpPr>
        <p:spPr>
          <a:xfrm>
            <a:off x="784800" y="1275936"/>
            <a:ext cx="8359200" cy="3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T. Steuer, A. Filighera, and T. Tregel, "Investigating Educational and Noneducational Answer Selection for Educational Question Generation," 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10, pp. 63522-63536, Jun. 2022, doi: 10.1109/ACCESS.2022.3180838​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[10]G. Kurdi, J. Leo, B. Parsia, U. Sattler, and S. Al-Emari, "A Systematic Review of Automatic Question Generation for Educational Purposes," 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Artificial Intelligence in Education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30, pp. 121-147, 2019, doi: 10.1007/s40593-019-00186-y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g2f8e0d6f8ba_1_1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629" name="Google Shape;629;g2f8e0d6f8ba_1_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30" name="Google Shape;630;g2f8e0d6f8ba_1_1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"/>
          <p:cNvSpPr txBox="1">
            <a:spLocks noGrp="1"/>
          </p:cNvSpPr>
          <p:nvPr>
            <p:ph type="title"/>
          </p:nvPr>
        </p:nvSpPr>
        <p:spPr>
          <a:xfrm>
            <a:off x="457200" y="197110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5700" b="1" dirty="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7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6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CSD 416</a:t>
            </a:r>
            <a:endParaRPr/>
          </a:p>
        </p:txBody>
      </p:sp>
      <p:sp>
        <p:nvSpPr>
          <p:cNvPr id="639" name="Google Shape;639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40" name="Google Shape;640;p6"/>
          <p:cNvSpPr txBox="1">
            <a:spLocks noGrp="1"/>
          </p:cNvSpPr>
          <p:nvPr>
            <p:ph type="dt" idx="10"/>
          </p:nvPr>
        </p:nvSpPr>
        <p:spPr>
          <a:xfrm>
            <a:off x="228600" y="478155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February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3839</Words>
  <Application>Microsoft Office PowerPoint</Application>
  <PresentationFormat>On-screen Show (16:9)</PresentationFormat>
  <Paragraphs>692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         Introduction</vt:lpstr>
      <vt:lpstr>Objectives</vt:lpstr>
      <vt:lpstr>Literature Survey</vt:lpstr>
      <vt:lpstr>Literature Survey</vt:lpstr>
      <vt:lpstr>Literature Survey</vt:lpstr>
      <vt:lpstr>Literature Survey</vt:lpstr>
      <vt:lpstr>Literature Survey</vt:lpstr>
      <vt:lpstr>Cons of Existing System</vt:lpstr>
      <vt:lpstr>Proposed System</vt:lpstr>
      <vt:lpstr>Architecture Design</vt:lpstr>
      <vt:lpstr>Architecture Design</vt:lpstr>
      <vt:lpstr>Architecture Design</vt:lpstr>
      <vt:lpstr>Module Details</vt:lpstr>
      <vt:lpstr>Module Details</vt:lpstr>
      <vt:lpstr>Module Algorithm</vt:lpstr>
      <vt:lpstr>Module Algorithm</vt:lpstr>
      <vt:lpstr>Module Details</vt:lpstr>
      <vt:lpstr>Module Details</vt:lpstr>
      <vt:lpstr>Module Algorithm</vt:lpstr>
      <vt:lpstr>Module Details</vt:lpstr>
      <vt:lpstr>Implementation</vt:lpstr>
      <vt:lpstr>Implementation</vt:lpstr>
      <vt:lpstr>Implementation</vt:lpstr>
      <vt:lpstr>Implementation</vt:lpstr>
      <vt:lpstr>Pros of Proposed System</vt:lpstr>
      <vt:lpstr>Dataset</vt:lpstr>
      <vt:lpstr>Dataset</vt:lpstr>
      <vt:lpstr>Dataset</vt:lpstr>
      <vt:lpstr>Output</vt:lpstr>
      <vt:lpstr>Output</vt:lpstr>
      <vt:lpstr>Output</vt:lpstr>
      <vt:lpstr>Model Comparison</vt:lpstr>
      <vt:lpstr>Model Comparison</vt:lpstr>
      <vt:lpstr>Model Comparison</vt:lpstr>
      <vt:lpstr>Technology Stack</vt:lpstr>
      <vt:lpstr>Technology Stack</vt:lpstr>
      <vt:lpstr>Conclusion</vt:lpstr>
      <vt:lpstr>References</vt:lpstr>
      <vt:lpstr>References</vt:lpstr>
      <vt:lpstr>References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 O.COM</dc:creator>
  <cp:lastModifiedBy>Solaman Aji</cp:lastModifiedBy>
  <cp:revision>8</cp:revision>
  <dcterms:modified xsi:type="dcterms:W3CDTF">2025-02-20T02:30:43Z</dcterms:modified>
</cp:coreProperties>
</file>